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notesMasterIdLst>
    <p:notesMasterId r:id="rId33"/>
  </p:notesMasterIdLst>
  <p:sldIdLst>
    <p:sldId id="356" r:id="rId5"/>
    <p:sldId id="261" r:id="rId6"/>
    <p:sldId id="263" r:id="rId7"/>
    <p:sldId id="258" r:id="rId8"/>
    <p:sldId id="264" r:id="rId9"/>
    <p:sldId id="283" r:id="rId10"/>
    <p:sldId id="303" r:id="rId11"/>
    <p:sldId id="304" r:id="rId12"/>
    <p:sldId id="308" r:id="rId13"/>
    <p:sldId id="306" r:id="rId14"/>
    <p:sldId id="311" r:id="rId15"/>
    <p:sldId id="321" r:id="rId16"/>
    <p:sldId id="322" r:id="rId17"/>
    <p:sldId id="314" r:id="rId18"/>
    <p:sldId id="316" r:id="rId19"/>
    <p:sldId id="323" r:id="rId20"/>
    <p:sldId id="324" r:id="rId21"/>
    <p:sldId id="348" r:id="rId22"/>
    <p:sldId id="325" r:id="rId23"/>
    <p:sldId id="326" r:id="rId24"/>
    <p:sldId id="349" r:id="rId25"/>
    <p:sldId id="277" r:id="rId26"/>
    <p:sldId id="278" r:id="rId27"/>
    <p:sldId id="341" r:id="rId28"/>
    <p:sldId id="350" r:id="rId29"/>
    <p:sldId id="351" r:id="rId30"/>
    <p:sldId id="354" r:id="rId31"/>
    <p:sldId id="35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F030"/>
    <a:srgbClr val="A8EE9C"/>
    <a:srgbClr val="276C1E"/>
    <a:srgbClr val="692D56"/>
    <a:srgbClr val="A44687"/>
    <a:srgbClr val="682252"/>
    <a:srgbClr val="933F79"/>
    <a:srgbClr val="008080"/>
    <a:srgbClr val="5E2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91" autoAdjust="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3A1FB-12CB-49E6-809F-DA2D2089BF59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E77-EC63-4CD7-8F8A-914122582C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7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09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5334000"/>
            <a:ext cx="9550400" cy="773668"/>
          </a:xfrm>
          <a:prstGeom prst="rect">
            <a:avLst/>
          </a:prstGeom>
          <a:solidFill>
            <a:srgbClr val="81D8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9" name="Rectangle 8"/>
          <p:cNvSpPr/>
          <p:nvPr userDrawn="1"/>
        </p:nvSpPr>
        <p:spPr>
          <a:xfrm>
            <a:off x="-3507" y="6172200"/>
            <a:ext cx="5286707" cy="397014"/>
          </a:xfrm>
          <a:prstGeom prst="rect">
            <a:avLst/>
          </a:prstGeom>
          <a:solidFill>
            <a:schemeClr val="bg1">
              <a:lumMod val="65000"/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929693" y="6186041"/>
            <a:ext cx="286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- PRACTITIONER</a:t>
            </a:r>
          </a:p>
        </p:txBody>
      </p:sp>
    </p:spTree>
    <p:extLst>
      <p:ext uri="{BB962C8B-B14F-4D97-AF65-F5344CB8AC3E}">
        <p14:creationId xmlns:p14="http://schemas.microsoft.com/office/powerpoint/2010/main" val="5074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0"/>
            <a:ext cx="9143995" cy="4934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8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55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0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73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E7AF38FF-B38D-4060-8B8D-2D16AAFBAA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0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_the_Author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048000" y="0"/>
            <a:ext cx="81280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buNone/>
            </a:pPr>
            <a:r>
              <a:rPr lang="en-US" sz="3200" b="0" dirty="0">
                <a:solidFill>
                  <a:schemeClr val="bg1"/>
                </a:solidFill>
                <a:latin typeface="Arial Rounded MT Bold" pitchFamily="34" charset="0"/>
              </a:rPr>
              <a:t>About the Author</a:t>
            </a:r>
          </a:p>
        </p:txBody>
      </p:sp>
      <p:graphicFrame>
        <p:nvGraphicFramePr>
          <p:cNvPr id="12" name="Group 8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48546278"/>
              </p:ext>
            </p:extLst>
          </p:nvPr>
        </p:nvGraphicFramePr>
        <p:xfrm>
          <a:off x="711200" y="2286000"/>
          <a:ext cx="10871200" cy="182880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Created By: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Credential Information: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Version and Date:</a:t>
                      </a:r>
                    </a:p>
                  </a:txBody>
                  <a:tcPr marL="121920" marR="121920"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 userDrawn="1"/>
        </p:nvSpPr>
        <p:spPr>
          <a:xfrm>
            <a:off x="2901056" y="4648201"/>
            <a:ext cx="63898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b="1" kern="10" dirty="0">
                <a:ln w="3175">
                  <a:solidFill>
                    <a:srgbClr val="92D050"/>
                  </a:solidFill>
                  <a:round/>
                  <a:headEnd/>
                  <a:tailEnd/>
                </a:ln>
                <a:solidFill>
                  <a:schemeClr val="accent3">
                    <a:lumMod val="50000"/>
                  </a:schemeClr>
                </a:solidFill>
                <a:effectLst>
                  <a:glow rad="63500">
                    <a:schemeClr val="accent3">
                      <a:lumMod val="50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Narrow" pitchFamily="34" charset="0"/>
              </a:rPr>
              <a:t>Cognizant Certified Official Curriculum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11480800" y="6629401"/>
            <a:ext cx="711195" cy="2285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12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7AF38FF-B38D-4060-8B8D-2D16AAFBAAC1}" type="slidenum">
              <a:rPr lang="en-US" sz="1200" smtClean="0"/>
              <a:pPr/>
              <a:t>‹#›</a:t>
            </a:fld>
            <a:endParaRPr lang="en-US" sz="120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676" y="6553200"/>
            <a:ext cx="1828800" cy="228600"/>
          </a:xfrm>
        </p:spPr>
        <p:txBody>
          <a:bodyPr/>
          <a:lstStyle/>
          <a:p>
            <a:r>
              <a:rPr lang="en-US" dirty="0"/>
              <a:t>© Cognizant 2015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5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478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1"/>
            <a:ext cx="109728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76" y="6553200"/>
            <a:ext cx="1828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 b="1" kern="1200" dirty="0" smtClean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© Cognizant 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6629401"/>
            <a:ext cx="711195" cy="2285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chemeClr val="bg1"/>
                </a:solidFill>
              </a:defRPr>
            </a:lvl1pPr>
          </a:lstStyle>
          <a:p>
            <a:pPr algn="r"/>
            <a:fld id="{E7AF38FF-B38D-4060-8B8D-2D16AAFBAAC1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79" r:id="rId4"/>
    <p:sldLayoutId id="2147483680" r:id="rId5"/>
    <p:sldLayoutId id="2147483681" r:id="rId6"/>
    <p:sldLayoutId id="2147483684" r:id="rId7"/>
    <p:sldLayoutId id="2147483690" r:id="rId8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3000" b="0" kern="1200" dirty="0" smtClean="0">
          <a:solidFill>
            <a:schemeClr val="bg1"/>
          </a:solidFill>
          <a:latin typeface="Arial Rounded MT Bold" pitchFamily="34" charset="0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20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8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en-US" sz="16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lang="en-US" sz="1400" kern="120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lang="en-US" sz="1200" kern="1200" dirty="0" smtClean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 Unicode MS" pitchFamily="34" charset="-128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1" y="5341258"/>
            <a:ext cx="8458200" cy="7547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38125" lvl="1"/>
            <a:r>
              <a:rPr lang="en-US" sz="2800" b="1" dirty="0">
                <a:solidFill>
                  <a:srgbClr val="0071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Veeva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555494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7EF03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293743"/>
              </p:ext>
            </p:extLst>
          </p:nvPr>
        </p:nvGraphicFramePr>
        <p:xfrm>
          <a:off x="3429000" y="2329934"/>
          <a:ext cx="8077200" cy="1828800"/>
        </p:xfrm>
        <a:graphic>
          <a:graphicData uri="http://schemas.openxmlformats.org/drawingml/2006/table">
            <a:tbl>
              <a:tblPr/>
              <a:tblGrid>
                <a:gridCol w="807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sz="1600" kern="120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 Unicode MS" pitchFamily="34" charset="-128"/>
                          <a:cs typeface="Arial" panose="020B0604020202020204" pitchFamily="34" charset="0"/>
                        </a:rPr>
                        <a:t>Abhirup</a:t>
                      </a:r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 Unicode MS" pitchFamily="34" charset="-128"/>
                          <a:cs typeface="Arial" panose="020B0604020202020204" pitchFamily="34" charset="0"/>
                        </a:rPr>
                        <a:t> Bose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sz="160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 Unicode MS" pitchFamily="34" charset="-128"/>
                          <a:cs typeface="Arial" panose="020B0604020202020204" pitchFamily="34" charset="0"/>
                        </a:rPr>
                        <a:t>Sr. Associate – CRM, EAS Salesforce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V1, 13-Jan-2018</a:t>
                      </a:r>
                      <a:endParaRPr lang="en-US" sz="16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 Unicode MS" pitchFamily="34" charset="-128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1676400" y="6428602"/>
            <a:ext cx="457200" cy="276999"/>
          </a:xfrm>
        </p:spPr>
        <p:txBody>
          <a:bodyPr/>
          <a:lstStyle/>
          <a:p>
            <a:pPr>
              <a:defRPr/>
            </a:pPr>
            <a:fld id="{ACB22A88-73BA-4B00-905C-A309951F5147}" type="slidenum">
              <a:rPr lang="en-US" sz="1400"/>
              <a:pPr>
                <a:defRPr/>
              </a:pPr>
              <a:t>2</a:t>
            </a:fld>
            <a:endParaRPr lang="en-US" sz="1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Top </a:t>
            </a:r>
            <a:r>
              <a:rPr lang="en-US" sz="2800" dirty="0" err="1"/>
              <a:t>Veeva</a:t>
            </a:r>
            <a:r>
              <a:rPr lang="en-US" sz="2800" dirty="0"/>
              <a:t> Configuration Rules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1143001"/>
            <a:ext cx="11049000" cy="5029199"/>
          </a:xfrm>
        </p:spPr>
        <p:txBody>
          <a:bodyPr/>
          <a:lstStyle/>
          <a:p>
            <a:r>
              <a:rPr lang="en-US" b="1" dirty="0"/>
              <a:t>Never delete or modify anything with “_</a:t>
            </a:r>
            <a:r>
              <a:rPr lang="en-US" b="1" dirty="0" err="1"/>
              <a:t>vod</a:t>
            </a:r>
            <a:r>
              <a:rPr lang="en-US" b="1" dirty="0"/>
              <a:t>” in the name (other than the label)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Including fields, objects, record types, picklists, S-controls and packages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Never utilize the “_</a:t>
            </a:r>
            <a:r>
              <a:rPr lang="en-US" b="1" dirty="0" err="1"/>
              <a:t>vod</a:t>
            </a:r>
            <a:r>
              <a:rPr lang="en-US" b="1" dirty="0"/>
              <a:t>” when creating or modifying customer specific objects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This naming convention is used by </a:t>
            </a:r>
            <a:r>
              <a:rPr lang="en-US" sz="2000" dirty="0" err="1"/>
              <a:t>Veeva</a:t>
            </a:r>
            <a:r>
              <a:rPr lang="en-US" sz="2000" dirty="0"/>
              <a:t> to perform upgrade processing and it is possible that non-</a:t>
            </a:r>
            <a:r>
              <a:rPr lang="en-US" sz="2000" dirty="0" err="1"/>
              <a:t>VoD</a:t>
            </a:r>
            <a:r>
              <a:rPr lang="en-US" sz="2000" dirty="0"/>
              <a:t> objects with this naming convention could be deleted</a:t>
            </a:r>
          </a:p>
          <a:p>
            <a:endParaRPr lang="en-US" dirty="0"/>
          </a:p>
          <a:p>
            <a:r>
              <a:rPr lang="en-US" b="1" dirty="0"/>
              <a:t>It is highly recommended to NOT rename </a:t>
            </a:r>
            <a:r>
              <a:rPr lang="en-US" b="1" dirty="0" err="1"/>
              <a:t>Veeva</a:t>
            </a:r>
            <a:r>
              <a:rPr lang="en-US" b="1" dirty="0"/>
              <a:t> Tabs and out of the box  record types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Unexpected results may occur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Use the translation workbench to modify the labels instead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-76200"/>
            <a:ext cx="9143995" cy="80803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Top Veeva Configuration Rules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1"/>
            <a:ext cx="11506200" cy="5410199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If you make a configuration to a </a:t>
            </a:r>
            <a:r>
              <a:rPr lang="en-US" b="1" dirty="0" err="1"/>
              <a:t>Veeva</a:t>
            </a:r>
            <a:r>
              <a:rPr lang="en-US" b="1" dirty="0"/>
              <a:t> CRM specific </a:t>
            </a:r>
            <a:r>
              <a:rPr lang="en-US" b="1" dirty="0" err="1"/>
              <a:t>component,such</a:t>
            </a:r>
            <a:r>
              <a:rPr lang="en-US" b="1" dirty="0"/>
              <a:t> as modification of the Call Reports or Meeting Briefs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You must clear the cache for all users either from the</a:t>
            </a:r>
          </a:p>
          <a:p>
            <a:pPr marL="0" indent="0">
              <a:buNone/>
            </a:pPr>
            <a:r>
              <a:rPr lang="en-US" dirty="0"/>
              <a:t>            Clear </a:t>
            </a:r>
            <a:r>
              <a:rPr lang="en-US" dirty="0" err="1"/>
              <a:t>Veeva</a:t>
            </a:r>
            <a:r>
              <a:rPr lang="en-US" dirty="0"/>
              <a:t> Cache tab or the Clear Cache button on </a:t>
            </a:r>
          </a:p>
          <a:p>
            <a:pPr marL="0" indent="0">
              <a:buNone/>
            </a:pPr>
            <a:r>
              <a:rPr lang="en-US" dirty="0"/>
              <a:t>            the </a:t>
            </a:r>
            <a:r>
              <a:rPr lang="en-US" dirty="0" err="1"/>
              <a:t>Veeva</a:t>
            </a:r>
            <a:r>
              <a:rPr lang="en-US" dirty="0"/>
              <a:t>  Message tab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Page layout and description is cached by Users in the </a:t>
            </a:r>
            <a:r>
              <a:rPr lang="en-US" sz="2000" dirty="0" err="1"/>
              <a:t>Veeva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dirty="0"/>
              <a:t>            UI server to increase performance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If you need to change a </a:t>
            </a:r>
            <a:r>
              <a:rPr lang="en-US" b="1" dirty="0" err="1"/>
              <a:t>Veeva</a:t>
            </a:r>
            <a:r>
              <a:rPr lang="en-US" b="1" dirty="0"/>
              <a:t> Message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 Mark the original record as “Inactive” and save it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   Clone the Inactive record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   Mark the new record Active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   Enter value in the Text field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   Remove the External Id value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15018" y="65313"/>
            <a:ext cx="9143995" cy="47897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Top Veeva Consulting Rules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1066800"/>
            <a:ext cx="10903228" cy="48006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Avoid development customizations as much as possible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Adds risks, extends timelines, and adds maintenance costs to the system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If development is unavoidable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Schedule technical resources towards the end of the project since design</a:t>
            </a:r>
          </a:p>
          <a:p>
            <a:pPr marL="0" indent="0">
              <a:buNone/>
            </a:pPr>
            <a:r>
              <a:rPr lang="en-US" dirty="0"/>
              <a:t>          changes can impact requirements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Agree from the beginning what project roles and responsibilities</a:t>
            </a:r>
          </a:p>
          <a:p>
            <a:pPr marL="0" indent="0">
              <a:buNone/>
            </a:pPr>
            <a:r>
              <a:rPr lang="en-US" b="1" dirty="0"/>
              <a:t>     are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How you will conduct the implementation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Identify procedures for escalating project risks/problems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6863" y="19334"/>
            <a:ext cx="9143995" cy="9143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Top Veeva Consulting Rules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143001"/>
            <a:ext cx="10871200" cy="464819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Discuss documentation processes and requirements upfront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Some companies require heavy amounts of documentation to meet compliance</a:t>
            </a:r>
          </a:p>
          <a:p>
            <a:pPr marL="457200" lvl="1" indent="0">
              <a:buNone/>
            </a:pPr>
            <a:r>
              <a:rPr lang="en-US" sz="2000" dirty="0"/>
              <a:t>      regulations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Decide on your object naming and documentation standards</a:t>
            </a:r>
          </a:p>
          <a:p>
            <a:pPr marL="0" indent="0">
              <a:buNone/>
            </a:pPr>
            <a:r>
              <a:rPr lang="en-US" b="1" dirty="0"/>
              <a:t>     before building anything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Even it is a demo, it would be more difficult to clean it up later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Request compliance documentation at the launch of a project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To ensure you meet local industry regulations and standards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9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-130623"/>
            <a:ext cx="9143995" cy="8381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Top Veeva Consulting Rules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8000" y="990600"/>
            <a:ext cx="10972800" cy="507275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 </a:t>
            </a:r>
            <a:r>
              <a:rPr lang="en-US" b="1" dirty="0"/>
              <a:t>Conduct performance tests from within the customer network</a:t>
            </a:r>
          </a:p>
          <a:p>
            <a:pPr marL="0" indent="0">
              <a:buNone/>
            </a:pPr>
            <a:r>
              <a:rPr lang="en-US" b="1" dirty="0"/>
              <a:t>      on a rep’s machine from the start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Bandwidth, outdated browser versions, and network latency can degrade user experience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When given access to a new org, never use the </a:t>
            </a:r>
            <a:r>
              <a:rPr lang="en-US" b="1" dirty="0" err="1"/>
              <a:t>vodadmin</a:t>
            </a:r>
            <a:r>
              <a:rPr lang="en-US" b="1" dirty="0"/>
              <a:t> </a:t>
            </a:r>
            <a:r>
              <a:rPr lang="en-US" b="1" dirty="0" err="1"/>
              <a:t>userid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  to make changes to the system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Used by development and support teams to access the system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Always create the base fields in English</a:t>
            </a:r>
          </a:p>
          <a:p>
            <a:endParaRPr lang="en-US" b="1" dirty="0"/>
          </a:p>
          <a:p>
            <a:r>
              <a:rPr lang="en-US" dirty="0"/>
              <a:t> </a:t>
            </a:r>
            <a:r>
              <a:rPr lang="en-US" b="1" dirty="0"/>
              <a:t>Establish the function of the Systems Architect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Governs changes to the data model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 Coordinates various logic pieces such as triggers, scheduled jobs, technical design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280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5" y="0"/>
            <a:ext cx="9143995" cy="7043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Top Veeva Consulting Rules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7994" y="1036637"/>
            <a:ext cx="11523006" cy="49831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 </a:t>
            </a:r>
            <a:r>
              <a:rPr lang="en-US" b="1" dirty="0"/>
              <a:t>When developing something, always think about “two years</a:t>
            </a:r>
          </a:p>
          <a:p>
            <a:pPr marL="0" indent="0">
              <a:buNone/>
            </a:pPr>
            <a:r>
              <a:rPr lang="en-US" b="1" dirty="0"/>
              <a:t>      from now…”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What happens when my customer wants to add a new business unit?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What happens when my customer wants to add a new country?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What happens to my integration mappings?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  Is it clear to that new implementation team what my changes will effect and</a:t>
            </a:r>
          </a:p>
          <a:p>
            <a:pPr marL="0" indent="0">
              <a:buNone/>
            </a:pPr>
            <a:r>
              <a:rPr lang="en-US" dirty="0"/>
              <a:t>             who?</a:t>
            </a:r>
          </a:p>
          <a:p>
            <a:r>
              <a:rPr lang="en-US" dirty="0"/>
              <a:t> </a:t>
            </a:r>
            <a:r>
              <a:rPr lang="en-US" b="1" dirty="0"/>
              <a:t>To ensure our systems are built from the ground up with a strong foundation and easier to expand in the future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374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397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Modifying or Creating Fields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1"/>
            <a:ext cx="11023600" cy="5059364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 </a:t>
            </a:r>
            <a:r>
              <a:rPr lang="en-US" b="1" dirty="0"/>
              <a:t>There are three types of fields on an object</a:t>
            </a:r>
          </a:p>
          <a:p>
            <a:pPr marL="0" indent="0">
              <a:buNone/>
            </a:pPr>
            <a:r>
              <a:rPr lang="en-US" dirty="0"/>
              <a:t>         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/>
              <a:t>  Salesforce.com standard fields – these have limited accessibility for modification and are delivered out of the box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en-US" sz="2000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/>
              <a:t>   </a:t>
            </a:r>
            <a:r>
              <a:rPr lang="en-US" sz="2000" dirty="0" err="1"/>
              <a:t>Veeva</a:t>
            </a:r>
            <a:r>
              <a:rPr lang="en-US" sz="2000" dirty="0"/>
              <a:t> custom fields – delivered by </a:t>
            </a:r>
            <a:r>
              <a:rPr lang="en-US" sz="2000" dirty="0" err="1"/>
              <a:t>Veeva</a:t>
            </a:r>
            <a:r>
              <a:rPr lang="en-US" sz="2000" dirty="0"/>
              <a:t> out of the box they are </a:t>
            </a:r>
            <a:r>
              <a:rPr lang="en-US" sz="2000" dirty="0" err="1"/>
              <a:t>sufixed</a:t>
            </a:r>
            <a:r>
              <a:rPr lang="en-US" sz="2000" dirty="0"/>
              <a:t> with _</a:t>
            </a:r>
            <a:r>
              <a:rPr lang="en-US" sz="2000" dirty="0" err="1"/>
              <a:t>vod</a:t>
            </a:r>
            <a:r>
              <a:rPr lang="en-US" sz="2000" dirty="0"/>
              <a:t> in the </a:t>
            </a:r>
            <a:r>
              <a:rPr lang="en-US" sz="2000" dirty="0" err="1"/>
              <a:t>api</a:t>
            </a:r>
            <a:r>
              <a:rPr lang="en-US" sz="2000" dirty="0"/>
              <a:t> name. Never delete or modify (other than the label)</a:t>
            </a:r>
          </a:p>
          <a:p>
            <a:pPr marL="914400" lvl="2" indent="0">
              <a:buNone/>
            </a:pPr>
            <a:endParaRPr lang="en-US" sz="2000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/>
              <a:t>Customer custom fields – created for the customer implementation. Always build the field with the agreed upon customer naming convention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22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-99217"/>
            <a:ext cx="9143995" cy="7619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Creating New Custom Fields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990601"/>
            <a:ext cx="11049000" cy="49831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 </a:t>
            </a:r>
            <a:r>
              <a:rPr lang="en-US" b="1" dirty="0"/>
              <a:t>Always implement the API naming convention agreed upon at the onset of the project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/>
              <a:t> Convention depends on the strategy chosen by the system architect</a:t>
            </a:r>
          </a:p>
          <a:p>
            <a:pPr marL="0" indent="0">
              <a:buNone/>
            </a:pPr>
            <a:r>
              <a:rPr lang="en-US" dirty="0"/>
              <a:t>                   Keep it universal by adding a suffix of the organization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Examples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/>
              <a:t>  Lvl_Education_</a:t>
            </a:r>
            <a:r>
              <a:rPr lang="en-US" sz="2000" dirty="0" err="1"/>
              <a:t>pfi</a:t>
            </a:r>
            <a:r>
              <a:rPr lang="en-US" sz="2000" dirty="0"/>
              <a:t>__c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/>
              <a:t>  License_</a:t>
            </a:r>
            <a:r>
              <a:rPr lang="en-US" sz="2000" dirty="0" err="1"/>
              <a:t>pfi</a:t>
            </a:r>
            <a:r>
              <a:rPr lang="en-US" sz="2000" dirty="0"/>
              <a:t>__c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 </a:t>
            </a:r>
            <a:r>
              <a:rPr lang="en-US" b="1" dirty="0"/>
              <a:t>Reason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/>
              <a:t>   Helps distinguish the difference between </a:t>
            </a:r>
            <a:r>
              <a:rPr lang="en-US" sz="2000" dirty="0" err="1"/>
              <a:t>Veeva</a:t>
            </a:r>
            <a:r>
              <a:rPr lang="en-US" sz="2000" dirty="0"/>
              <a:t> custom fields and customer  built  custom fields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93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Field Comments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219200"/>
            <a:ext cx="11049000" cy="49831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 </a:t>
            </a:r>
            <a:r>
              <a:rPr lang="en-US" b="1" dirty="0"/>
              <a:t>Identify in the comments section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2000" dirty="0"/>
              <a:t>Group that requested the field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ISO codes of the countries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Business Units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Integrations using the field</a:t>
            </a:r>
          </a:p>
          <a:p>
            <a:r>
              <a:rPr lang="en-US" dirty="0"/>
              <a:t> </a:t>
            </a:r>
            <a:r>
              <a:rPr lang="en-US" b="1" dirty="0"/>
              <a:t>Examples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UK – Primary Care, Specialty, Oncology, Amadeus Integration;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USA – Primary Care, MLS</a:t>
            </a:r>
          </a:p>
          <a:p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If field is shared by multiple integrations, groups or countries, the field needs</a:t>
            </a:r>
          </a:p>
          <a:p>
            <a:pPr marL="0" indent="0">
              <a:buNone/>
            </a:pPr>
            <a:r>
              <a:rPr lang="en-US" dirty="0"/>
              <a:t>           metadata documentation in it for governance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Changing a field’s properties or values could have a negative impact on the</a:t>
            </a:r>
          </a:p>
          <a:p>
            <a:pPr marL="0" indent="0">
              <a:buNone/>
            </a:pPr>
            <a:r>
              <a:rPr lang="en-US" dirty="0"/>
              <a:t>           system and break integration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920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095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Veeva Requirements Object (Field)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90600" y="1219200"/>
            <a:ext cx="9829800" cy="4754564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Use the </a:t>
            </a:r>
            <a:r>
              <a:rPr lang="en-US" b="1" dirty="0" err="1"/>
              <a:t>Veeva</a:t>
            </a:r>
            <a:r>
              <a:rPr lang="en-US" b="1" dirty="0"/>
              <a:t> Requirements Object as a central repository for all system requirements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Paste the URL of the requirement record directly into the field comments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Gives administrators more background information about the field</a:t>
            </a:r>
          </a:p>
          <a:p>
            <a:r>
              <a:rPr lang="en-US" dirty="0"/>
              <a:t> </a:t>
            </a:r>
            <a:r>
              <a:rPr lang="en-US" b="1" dirty="0"/>
              <a:t>Example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[http://na7salesforce.com/001AY869900/] UK – Primary Care, </a:t>
            </a:r>
            <a:r>
              <a:rPr lang="en-US" sz="2000" dirty="0" err="1"/>
              <a:t>Specialty,Oncology</a:t>
            </a:r>
            <a:r>
              <a:rPr lang="en-US" sz="2000" dirty="0"/>
              <a:t>, Amadeus Integration;</a:t>
            </a:r>
          </a:p>
          <a:p>
            <a:r>
              <a:rPr lang="en-US" dirty="0"/>
              <a:t> </a:t>
            </a:r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Allows administrators to reference the history behind the field and understand</a:t>
            </a:r>
          </a:p>
          <a:p>
            <a:pPr marL="0" indent="0">
              <a:buNone/>
            </a:pPr>
            <a:r>
              <a:rPr lang="en-US" dirty="0"/>
              <a:t>           its design and change history</a:t>
            </a:r>
            <a:endParaRPr lang="en-US" b="1" i="1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46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857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Organize Fields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990601"/>
            <a:ext cx="10439400" cy="49831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Organize your fields by: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Prefixing any unused custom field labels with “z_[fieldname]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Examples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dirty="0" err="1"/>
              <a:t>z_fax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dirty="0" err="1"/>
              <a:t>z_website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q"/>
            </a:pPr>
            <a:endParaRPr lang="en-US" sz="2000" dirty="0"/>
          </a:p>
          <a:p>
            <a:r>
              <a:rPr lang="en-US" dirty="0"/>
              <a:t> </a:t>
            </a:r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Salesforce.com sorts the fields by label name so prefixing them will move them to the bottom of the list and out of your way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Makes the environment easier to manage</a:t>
            </a:r>
            <a:endParaRPr lang="en-US" sz="2000" b="1" i="1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Content Placeholder 4"/>
          <p:cNvSpPr txBox="1">
            <a:spLocks/>
          </p:cNvSpPr>
          <p:nvPr/>
        </p:nvSpPr>
        <p:spPr>
          <a:xfrm>
            <a:off x="6481800" y="3886199"/>
            <a:ext cx="4186202" cy="5213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66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7619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Field Limitation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036637"/>
            <a:ext cx="11201400" cy="498316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Understand the Field limitations per object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800 custom fields per object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3 external Id’s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10 roll-ups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2 master-detail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25 look-ups</a:t>
            </a:r>
          </a:p>
          <a:p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If your org will be expanded to new business units or countries, it is important</a:t>
            </a:r>
          </a:p>
          <a:p>
            <a:pPr marL="0" indent="0">
              <a:buNone/>
            </a:pPr>
            <a:r>
              <a:rPr lang="en-US" dirty="0"/>
              <a:t>           to understand what Force.com limitations will affect your expansion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You may request extensions to this limit but they will have an effect on system</a:t>
            </a:r>
          </a:p>
          <a:p>
            <a:pPr marL="0" indent="0">
              <a:buNone/>
            </a:pPr>
            <a:r>
              <a:rPr lang="en-US" dirty="0"/>
              <a:t>           performance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External Ids are important for adding new integration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Roll-up fields affect usability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896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857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Field Security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14400"/>
            <a:ext cx="11277600" cy="54102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 dirty="0"/>
          </a:p>
          <a:p>
            <a:r>
              <a:rPr lang="en-US" b="1" dirty="0"/>
              <a:t>Use field level security (except on call object) to hide fields from users instead of page layout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Safer method for restricting accessibility to data due to compliance regulations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Helps minimize the number of page layouts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Page layout prevents a user from seeing the field(s) but does not prevent them from seeing it in Salesforce.com reports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Only field level security can prevent complete access to fields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235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857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Security Profiles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762000" y="838200"/>
            <a:ext cx="108966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Minimize the number of Security Profiles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Reduces the number of field security settings you have to set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Always with the least possible number of profiles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Clone profiles as needed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Reduces the amount of security profile field level security settings you have to update when you add a new field to an object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6172200" y="1295401"/>
            <a:ext cx="5486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334696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7619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Record Type Labels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801329" y="914400"/>
            <a:ext cx="10642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Never change the out of the box label for a record type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Record type labels must always match its API name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If it must be done, then use the translation workbench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b="1" dirty="0"/>
              <a:t>Example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You want to rename the </a:t>
            </a:r>
            <a:r>
              <a:rPr lang="en-US" sz="2000" dirty="0" err="1"/>
              <a:t>Practice_vod</a:t>
            </a:r>
            <a:r>
              <a:rPr lang="en-US" sz="2000" dirty="0"/>
              <a:t> record type and rename the label to Clinic. Use the Translation Workbench  Translate  Language =[English/Target Language]  Object = [Record Type]. Change </a:t>
            </a:r>
            <a:r>
              <a:rPr lang="en-US" sz="2000" dirty="0" err="1"/>
              <a:t>thePractice_vod</a:t>
            </a:r>
            <a:r>
              <a:rPr lang="en-US" sz="2000" dirty="0"/>
              <a:t> to Clinic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000" dirty="0"/>
          </a:p>
          <a:p>
            <a:r>
              <a:rPr lang="en-US" dirty="0"/>
              <a:t> </a:t>
            </a:r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Changing the record type label may have unexpected results in the system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285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48000" y="-152400"/>
            <a:ext cx="9143995" cy="9143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Profiles and Page Layouts</a:t>
            </a:r>
            <a:endParaRPr lang="ja-JP" alt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609600" y="1143000"/>
            <a:ext cx="1296137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Minimize the number of Profiles and Page Layouts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Always start with as few as possible then clone them as needed</a:t>
            </a:r>
          </a:p>
          <a:p>
            <a:endParaRPr lang="en-US" dirty="0"/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Reuse page layouts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Assign them to as many record types as possible and control the visibility of data using field level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Reason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Decreases the likelihood of inconsistencies for different record types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Reduces the number of page layouts you will need when you add new fields to an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itchFamily="34" charset="0"/>
              <a:ea typeface="Arial Unicode MS" pitchFamily="34" charset="-128"/>
              <a:cs typeface="Arial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676" y="6553200"/>
            <a:ext cx="1828800" cy="228600"/>
          </a:xfrm>
        </p:spPr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80800" y="6629401"/>
            <a:ext cx="711195" cy="228597"/>
          </a:xfrm>
        </p:spPr>
        <p:txBody>
          <a:bodyPr/>
          <a:lstStyle/>
          <a:p>
            <a:r>
              <a:rPr lang="en-US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094285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857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Territory Management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1143000" y="1295401"/>
            <a:ext cx="103378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2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8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lang="en-US" sz="16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Understand Territory limitations per org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Allowed up to 500 Territories out of the box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Can request an increase for Salesforce.com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000" dirty="0"/>
          </a:p>
          <a:p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If the org will be expanded to new business units or countries, it is important to understand what Force.com limitations will affect the expansion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You may request extensions to this limit but they will have an effect on system performance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999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857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Territory Management – Continued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990600" y="1295401"/>
            <a:ext cx="10134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endParaRPr lang="en-US" b="1" dirty="0"/>
          </a:p>
          <a:p>
            <a:r>
              <a:rPr lang="en-US" b="1" dirty="0"/>
              <a:t>Build the territory hierarchy before building the role hierarchy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 </a:t>
            </a:r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Role Hierarchy should mirror the territory hierarchy for all levels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This is not SFDC best practices but it is </a:t>
            </a:r>
            <a:r>
              <a:rPr lang="en-US" dirty="0" err="1"/>
              <a:t>Veeva</a:t>
            </a:r>
            <a:r>
              <a:rPr lang="en-US" dirty="0"/>
              <a:t> best practice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Design is different from how SFDC does things especially when you get into integrations in this area</a:t>
            </a:r>
          </a:p>
        </p:txBody>
      </p:sp>
    </p:spTree>
    <p:extLst>
      <p:ext uri="{BB962C8B-B14F-4D97-AF65-F5344CB8AC3E}">
        <p14:creationId xmlns:p14="http://schemas.microsoft.com/office/powerpoint/2010/main" val="765935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-65313"/>
            <a:ext cx="9143995" cy="82731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Territory Management – Continued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Cognizant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990600" y="1295401"/>
            <a:ext cx="10134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>
                <a:latin typeface="Arial" pitchFamily="34" charset="0"/>
                <a:ea typeface="Arial Unicode MS" pitchFamily="34" charset="-128"/>
                <a:cs typeface="Arial" pitchFamily="34" charset="0"/>
              </a:defRPr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>
                <a:latin typeface="Arial" pitchFamily="34" charset="0"/>
                <a:ea typeface="Arial Unicode MS" pitchFamily="34" charset="-128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 Unicode MS" pitchFamily="34" charset="-128"/>
                <a:cs typeface="Arial" pitchFamily="34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b="1" dirty="0"/>
              <a:t>Add the Territory Field Viewer S-Control</a:t>
            </a:r>
          </a:p>
          <a:p>
            <a:pPr marL="0" indent="0">
              <a:buNone/>
            </a:pPr>
            <a:r>
              <a:rPr lang="en-US" b="1" dirty="0"/>
              <a:t>     (</a:t>
            </a:r>
            <a:r>
              <a:rPr lang="en-US" b="1" dirty="0" err="1"/>
              <a:t>Account_Territory_Info</a:t>
            </a:r>
            <a:r>
              <a:rPr lang="en-US" b="1" dirty="0"/>
              <a:t>) to the account page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Allow users edit territory specific information for the user’s territory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/>
              <a:t>Such as rep specific call targets</a:t>
            </a:r>
          </a:p>
          <a:p>
            <a:r>
              <a:rPr lang="en-US" dirty="0"/>
              <a:t> </a:t>
            </a:r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Problems with the out-of-the box territories on the account page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Access to territory fields is controlled by the parent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Users with access to the account can update any other user’s territory </a:t>
            </a:r>
            <a:r>
              <a:rPr lang="en-US" sz="2000" dirty="0" err="1"/>
              <a:t>fields’records</a:t>
            </a:r>
            <a:endParaRPr lang="en-US" sz="2000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2000" dirty="0"/>
              <a:t>Only the owner of the territory should be able to edit the Territory Fields</a:t>
            </a:r>
          </a:p>
        </p:txBody>
      </p:sp>
    </p:spTree>
    <p:extLst>
      <p:ext uri="{BB962C8B-B14F-4D97-AF65-F5344CB8AC3E}">
        <p14:creationId xmlns:p14="http://schemas.microsoft.com/office/powerpoint/2010/main" val="4054872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-95557"/>
            <a:ext cx="9143995" cy="8381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Security Profile Management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19200" y="1143000"/>
            <a:ext cx="8991600" cy="4968899"/>
          </a:xfrm>
        </p:spPr>
        <p:txBody>
          <a:bodyPr/>
          <a:lstStyle/>
          <a:p>
            <a:r>
              <a:rPr lang="en-US" b="1" dirty="0"/>
              <a:t>There are several out of the box security profiles provided as a template to base your future security profiles 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Clone and rename them using the naming conventions that take into consideration all the groups that the system will be rolled out to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Try to keep the number of profiles to a minimum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Rename unused profile with z_ to move them out of your way</a:t>
            </a:r>
          </a:p>
          <a:p>
            <a:r>
              <a:rPr lang="en-US" b="1" dirty="0"/>
              <a:t>Example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Primary Care Sales – </a:t>
            </a:r>
            <a:r>
              <a:rPr lang="en-US" sz="2000" dirty="0" err="1"/>
              <a:t>Verteo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Specialty Sales = </a:t>
            </a:r>
            <a:r>
              <a:rPr lang="en-US" sz="2000" dirty="0" err="1"/>
              <a:t>Verteo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MSL – </a:t>
            </a:r>
            <a:r>
              <a:rPr lang="en-US" sz="2000" dirty="0" err="1"/>
              <a:t>Verteo</a:t>
            </a:r>
            <a:endParaRPr lang="en-US" sz="2000" dirty="0"/>
          </a:p>
          <a:p>
            <a:r>
              <a:rPr lang="en-US" dirty="0"/>
              <a:t> </a:t>
            </a:r>
            <a:r>
              <a:rPr lang="en-US" b="1" dirty="0"/>
              <a:t>Helps to organize the profiles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0" y="-94938"/>
            <a:ext cx="9143995" cy="8381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Renaming Veeva Tabs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90600" y="1143001"/>
            <a:ext cx="10591800" cy="4983163"/>
          </a:xfrm>
        </p:spPr>
        <p:txBody>
          <a:bodyPr/>
          <a:lstStyle/>
          <a:p>
            <a:endParaRPr lang="en-US" b="1" dirty="0"/>
          </a:p>
          <a:p>
            <a:r>
              <a:rPr lang="en-US" b="1" dirty="0"/>
              <a:t>It is highly recommended not to rename </a:t>
            </a:r>
            <a:r>
              <a:rPr lang="en-US" b="1" dirty="0" err="1"/>
              <a:t>Veeva</a:t>
            </a:r>
            <a:r>
              <a:rPr lang="en-US" b="1" dirty="0"/>
              <a:t> tabs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If you choose to do it, be careful and make sure you change the values in </a:t>
            </a:r>
            <a:r>
              <a:rPr lang="en-US" sz="2000" dirty="0" err="1"/>
              <a:t>Veeva</a:t>
            </a:r>
            <a:r>
              <a:rPr lang="en-US" sz="2000" dirty="0"/>
              <a:t> messages too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Example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If you rename My Schedule Tab to My Call Schedule then you will need to rename the associated </a:t>
            </a:r>
            <a:r>
              <a:rPr lang="en-US" sz="2000" dirty="0" err="1"/>
              <a:t>Veeva</a:t>
            </a:r>
            <a:r>
              <a:rPr lang="en-US" sz="2000" dirty="0"/>
              <a:t> Message named My Calls as well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Otherwise, the Add to Schedule button in My Accounts will be affected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Make child object data searchable by activating the tab for that object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Common request for users wanting to search for addresses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000" dirty="0"/>
          </a:p>
          <a:p>
            <a:r>
              <a:rPr lang="en-US" b="1" dirty="0"/>
              <a:t>Edit user profiles and make the tabs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Default On – Makes the tab visible for the profile and advanced search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Default Off – Makes the tab visible from the All tabs and advanced search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dirty="0"/>
              <a:t> </a:t>
            </a:r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Only the essential </a:t>
            </a:r>
            <a:r>
              <a:rPr lang="en-US" sz="2000" dirty="0" err="1"/>
              <a:t>Veeva</a:t>
            </a:r>
            <a:r>
              <a:rPr lang="en-US" sz="2000" dirty="0"/>
              <a:t> tabs come as displayed out of the box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If the tab is hidden, then its data will not display in the search results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397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Making Child Objects Searchable</a:t>
            </a:r>
          </a:p>
        </p:txBody>
      </p:sp>
    </p:spTree>
    <p:extLst>
      <p:ext uri="{BB962C8B-B14F-4D97-AF65-F5344CB8AC3E}">
        <p14:creationId xmlns:p14="http://schemas.microsoft.com/office/powerpoint/2010/main" val="981538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Create an External ID structure to move data from one environment to another such as from dev to test environments</a:t>
            </a:r>
          </a:p>
          <a:p>
            <a:endParaRPr lang="en-US" b="1" dirty="0"/>
          </a:p>
          <a:p>
            <a:r>
              <a:rPr lang="en-US" dirty="0"/>
              <a:t> </a:t>
            </a:r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Salesforce.com creates a unique 18 character salesforce.com ID to identify each record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Moving these records to new environments via their salesforce.com ID is not a viable option because the salesforce.com ID is system re-generated in each environment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397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z="2800" dirty="0"/>
              <a:t>Apex Data Loader – External Ids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15784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Create two test sandboxes to ensure that a data migration process is correct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Use the first test sandbox for testing the data for user acceptance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Use second environment to test the data migration process before moving it to the production environment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b="1" dirty="0"/>
              <a:t>Example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Product records from the </a:t>
            </a:r>
            <a:r>
              <a:rPr lang="en-US" sz="2000" dirty="0" err="1"/>
              <a:t>Product_vod</a:t>
            </a:r>
            <a:r>
              <a:rPr lang="en-US" sz="2000" dirty="0"/>
              <a:t> table have been updated in the TST1 environment and approved for migration to PROD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Export the modified Product records using the Apex Data Loader</a:t>
            </a:r>
            <a:endParaRPr lang="en-US" sz="20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3048000" y="1"/>
            <a:ext cx="9143995" cy="6397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Apex Data Loader – Sandboxes</a:t>
            </a:r>
          </a:p>
        </p:txBody>
      </p:sp>
    </p:spTree>
    <p:extLst>
      <p:ext uri="{BB962C8B-B14F-4D97-AF65-F5344CB8AC3E}">
        <p14:creationId xmlns:p14="http://schemas.microsoft.com/office/powerpoint/2010/main" val="3068002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Set the base language to build all fields in English even if the environment is rolled out to multiple countries with different languages</a:t>
            </a:r>
          </a:p>
          <a:p>
            <a:endParaRPr lang="en-US" b="1" dirty="0"/>
          </a:p>
          <a:p>
            <a:r>
              <a:rPr lang="en-US" dirty="0"/>
              <a:t> </a:t>
            </a:r>
            <a:r>
              <a:rPr lang="en-US" b="1" dirty="0"/>
              <a:t>Reason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 Managing the translations through the translation workbench becomes difficult for system administrators and support when they don’t understand what the fields are in the multiple languages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Building reports also becomes an administrative overhead if the field labels are all in different languages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3048000" y="-157491"/>
            <a:ext cx="9143995" cy="9143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International Language Support</a:t>
            </a:r>
          </a:p>
        </p:txBody>
      </p:sp>
    </p:spTree>
    <p:extLst>
      <p:ext uri="{BB962C8B-B14F-4D97-AF65-F5344CB8AC3E}">
        <p14:creationId xmlns:p14="http://schemas.microsoft.com/office/powerpoint/2010/main" val="362655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Discussed the top Administrative things to know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Top </a:t>
            </a:r>
            <a:r>
              <a:rPr lang="en-US" sz="2000" dirty="0" err="1"/>
              <a:t>Veeva</a:t>
            </a:r>
            <a:r>
              <a:rPr lang="en-US" sz="2000" dirty="0"/>
              <a:t> Configuration Rules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Top </a:t>
            </a:r>
            <a:r>
              <a:rPr lang="en-US" sz="2000" dirty="0" err="1"/>
              <a:t>Veeva</a:t>
            </a:r>
            <a:r>
              <a:rPr lang="en-US" sz="2000" dirty="0"/>
              <a:t> Consulting Rules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Listed Force.com Configuration Best Practices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Modifying, creating, and controlling access to fields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Using record types and page layouts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Territory management and role setup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Security management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Creating custom buttons and tabs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Using Apex Data Loader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 Translation Workbench</a:t>
            </a:r>
            <a:endParaRPr lang="en-US" sz="20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Cognizant 2015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F38FF-B38D-4060-8B8D-2D16AAFBAAC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3048000" y="-157491"/>
            <a:ext cx="9143995" cy="9143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Module Summary</a:t>
            </a:r>
          </a:p>
        </p:txBody>
      </p:sp>
    </p:spTree>
    <p:extLst>
      <p:ext uri="{BB962C8B-B14F-4D97-AF65-F5344CB8AC3E}">
        <p14:creationId xmlns:p14="http://schemas.microsoft.com/office/powerpoint/2010/main" val="23546462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SharedWithUsers xmlns="c87adb7a-312c-4840-9f22-562d3543171d">
      <UserInfo>
        <DisplayName>Krishnan, Lakshmanan (Cognizant)</DisplayName>
        <AccountId>72</AccountId>
        <AccountType/>
      </UserInfo>
      <UserInfo>
        <DisplayName>R, Shyleja (Cognizant)</DisplayName>
        <AccountId>73</AccountId>
        <AccountType/>
      </UserInfo>
      <UserInfo>
        <DisplayName>Manal, Krushna (Cognizant)</DisplayName>
        <AccountId>74</AccountId>
        <AccountType/>
      </UserInfo>
      <UserInfo>
        <DisplayName>Chatterjee, Indranath (Cognizant)</DisplayName>
        <AccountId>76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C933FEF0C0674A996127B68FDC3420" ma:contentTypeVersion="6" ma:contentTypeDescription="Create a new document." ma:contentTypeScope="" ma:versionID="467fd860e439affda554b0e8fd635450">
  <xsd:schema xmlns:xsd="http://www.w3.org/2001/XMLSchema" xmlns:xs="http://www.w3.org/2001/XMLSchema" xmlns:p="http://schemas.microsoft.com/office/2006/metadata/properties" xmlns:ns2="fc8212d3-0522-415d-bf05-8cb4ef112812" xmlns:ns3="c87adb7a-312c-4840-9f22-562d3543171d" targetNamespace="http://schemas.microsoft.com/office/2006/metadata/properties" ma:root="true" ma:fieldsID="97a4d66715efea2c754f88516e87045d" ns2:_="" ns3:_="">
    <xsd:import namespace="fc8212d3-0522-415d-bf05-8cb4ef112812"/>
    <xsd:import namespace="c87adb7a-312c-4840-9f22-562d354317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212d3-0522-415d-bf05-8cb4ef1128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adb7a-312c-4840-9f22-562d3543171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8FCE96-C8A4-4E92-8467-18B7198B1C7C}">
  <ds:schemaRefs>
    <ds:schemaRef ds:uri="http://purl.org/dc/terms/"/>
    <ds:schemaRef ds:uri="http://purl.org/dc/elements/1.1/"/>
    <ds:schemaRef ds:uri="dfd53ed4-94b5-463c-b53e-ba94579571dd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www.w3.org/XML/1998/namespace"/>
    <ds:schemaRef ds:uri="c87adb7a-312c-4840-9f22-562d3543171d"/>
  </ds:schemaRefs>
</ds:datastoreItem>
</file>

<file path=customXml/itemProps2.xml><?xml version="1.0" encoding="utf-8"?>
<ds:datastoreItem xmlns:ds="http://schemas.openxmlformats.org/officeDocument/2006/customXml" ds:itemID="{05478962-0249-46F6-A5BF-F947AFB72BE2}"/>
</file>

<file path=customXml/itemProps3.xml><?xml version="1.0" encoding="utf-8"?>
<ds:datastoreItem xmlns:ds="http://schemas.openxmlformats.org/officeDocument/2006/customXml" ds:itemID="{8AAEEA49-3EED-4488-A043-7D1DC7843D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Theme_3</Template>
  <TotalTime>4592</TotalTime>
  <Words>2191</Words>
  <Application>Microsoft Office PowerPoint</Application>
  <PresentationFormat>Widescreen</PresentationFormat>
  <Paragraphs>325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Custom Design</vt:lpstr>
      <vt:lpstr>PowerPoint Presentation</vt:lpstr>
      <vt:lpstr>PowerPoint Presentation</vt:lpstr>
      <vt:lpstr>Top Veeva Configuration Rules</vt:lpstr>
      <vt:lpstr>Top Veeva Configuration Rules</vt:lpstr>
      <vt:lpstr>Top Veeva Consulting Rules</vt:lpstr>
      <vt:lpstr>Top Veeva Consulting Rules </vt:lpstr>
      <vt:lpstr>Top Veeva Consulting Rules</vt:lpstr>
      <vt:lpstr>Top Veeva Consulting Rules</vt:lpstr>
      <vt:lpstr>Modifying or Creating Fields</vt:lpstr>
      <vt:lpstr>Creating New Custom Fields</vt:lpstr>
      <vt:lpstr>Field Comments</vt:lpstr>
      <vt:lpstr>Veeva Requirements Object (Field)</vt:lpstr>
      <vt:lpstr>Organize Fields</vt:lpstr>
      <vt:lpstr>Field Limitation</vt:lpstr>
      <vt:lpstr>Field Security</vt:lpstr>
      <vt:lpstr>Security Profiles</vt:lpstr>
      <vt:lpstr>Record Type Labels</vt:lpstr>
      <vt:lpstr>Profiles and Page Layouts</vt:lpstr>
      <vt:lpstr>Territory Management</vt:lpstr>
      <vt:lpstr>Territory Management – Continued</vt:lpstr>
      <vt:lpstr>Territory Management – Continued</vt:lpstr>
      <vt:lpstr>Security Profile Management</vt:lpstr>
      <vt:lpstr>Renaming Veeva Tabs</vt:lpstr>
      <vt:lpstr>Making Child Objects Searchable</vt:lpstr>
      <vt:lpstr>Apex Data Loader – External Ids</vt:lpstr>
      <vt:lpstr>Apex Data Loader – Sandboxes</vt:lpstr>
      <vt:lpstr>International Language Support</vt:lpstr>
      <vt:lpstr>Module Summary</vt:lpstr>
    </vt:vector>
  </TitlesOfParts>
  <Company>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Content_Development_Template_Practitioner</dc:title>
  <dc:creator>AssetDevelopmentTeam@cognizant.com</dc:creator>
  <cp:lastModifiedBy>Bose, Abhirup (Cognizant)</cp:lastModifiedBy>
  <cp:revision>221</cp:revision>
  <dcterms:created xsi:type="dcterms:W3CDTF">2011-06-15T11:24:59Z</dcterms:created>
  <dcterms:modified xsi:type="dcterms:W3CDTF">2024-11-18T07:17:38Z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0x0101008CC933FEF0C0674A996127B68FDC3420</vt:lpwstr>
  </property>
  <property fmtid="{D5CDD505-2E9C-101B-9397-08002B2CF9AE}" pid="3" name="_dlc_DocIdItemGuid">
    <vt:lpwstr>1c19f327-3998-48ba-bd4d-be7aee79e354</vt:lpwstr>
  </property>
</Properties>
</file>